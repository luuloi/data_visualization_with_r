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360" r:id="rId4"/>
    <p:sldId id="362" r:id="rId5"/>
    <p:sldId id="365" r:id="rId6"/>
    <p:sldId id="370" r:id="rId7"/>
    <p:sldId id="361" r:id="rId8"/>
    <p:sldId id="368" r:id="rId9"/>
    <p:sldId id="366" r:id="rId10"/>
    <p:sldId id="367" r:id="rId11"/>
    <p:sldId id="369" r:id="rId12"/>
    <p:sldId id="371" r:id="rId13"/>
    <p:sldId id="363" r:id="rId14"/>
    <p:sldId id="364" r:id="rId15"/>
    <p:sldId id="373" r:id="rId16"/>
    <p:sldId id="372" r:id="rId17"/>
    <p:sldId id="374" r:id="rId18"/>
    <p:sldId id="375" r:id="rId19"/>
    <p:sldId id="376" r:id="rId20"/>
    <p:sldId id="35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345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fld id="{CB0FF989-DAFF-41C6-B5E8-EECA88B0B8B8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 panose="020F0302020204030204" pitchFamily="34" charset="0"/>
              </a:defRPr>
            </a:lvl1pPr>
          </a:lstStyle>
          <a:p>
            <a:fld id="{76F72193-059E-4068-90A6-0EAB6E277E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8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 Light" panose="020F03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07cb7f4e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07cb7f4e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71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66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97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>
                <a:latin typeface="Calibri Light" panose="020F0302020204030204" pitchFamily="34" charset="0"/>
              </a:defRPr>
            </a:lvl1pPr>
            <a:lvl2pPr>
              <a:defRPr sz="1600">
                <a:latin typeface="Calibri Light" panose="020F0302020204030204" pitchFamily="34" charset="0"/>
              </a:defRPr>
            </a:lvl2pPr>
            <a:lvl3pPr>
              <a:defRPr sz="1400">
                <a:latin typeface="Calibri Light" panose="020F0302020204030204" pitchFamily="34" charset="0"/>
              </a:defRPr>
            </a:lvl3pPr>
            <a:lvl4pPr>
              <a:defRPr sz="1200">
                <a:latin typeface="Calibri Light" panose="020F0302020204030204" pitchFamily="34" charset="0"/>
              </a:defRPr>
            </a:lvl4pPr>
            <a:lvl5pPr>
              <a:defRPr sz="1200">
                <a:latin typeface="Calibri Light" panose="020F030202020403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>
                <a:latin typeface="Calibri Light" panose="020F0302020204030204" pitchFamily="34" charset="0"/>
              </a:defRPr>
            </a:lvl1pPr>
            <a:lvl2pPr>
              <a:defRPr sz="1600">
                <a:latin typeface="Calibri Light" panose="020F0302020204030204" pitchFamily="34" charset="0"/>
              </a:defRPr>
            </a:lvl2pPr>
            <a:lvl3pPr>
              <a:defRPr sz="1400">
                <a:latin typeface="Calibri Light" panose="020F0302020204030204" pitchFamily="34" charset="0"/>
              </a:defRPr>
            </a:lvl3pPr>
            <a:lvl4pPr>
              <a:defRPr sz="1200">
                <a:latin typeface="Calibri Light" panose="020F0302020204030204" pitchFamily="34" charset="0"/>
              </a:defRPr>
            </a:lvl4pPr>
            <a:lvl5pPr>
              <a:defRPr sz="1200">
                <a:latin typeface="Calibri Light" panose="020F030202020403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4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>
                <a:latin typeface="Calibri Light" panose="020F0302020204030204" pitchFamily="34" charset="0"/>
              </a:defRPr>
            </a:lvl1pPr>
            <a:lvl2pPr>
              <a:defRPr sz="1600">
                <a:latin typeface="Calibri Light" panose="020F0302020204030204" pitchFamily="34" charset="0"/>
              </a:defRPr>
            </a:lvl2pPr>
            <a:lvl3pPr>
              <a:defRPr sz="1400">
                <a:latin typeface="Calibri Light" panose="020F0302020204030204" pitchFamily="34" charset="0"/>
              </a:defRPr>
            </a:lvl3pPr>
            <a:lvl4pPr>
              <a:defRPr sz="1200">
                <a:latin typeface="Calibri Light" panose="020F0302020204030204" pitchFamily="34" charset="0"/>
              </a:defRPr>
            </a:lvl4pPr>
            <a:lvl5pPr>
              <a:defRPr sz="1200">
                <a:latin typeface="Calibri Light" panose="020F030202020403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>
                <a:latin typeface="Calibri Light" panose="020F0302020204030204" pitchFamily="34" charset="0"/>
              </a:defRPr>
            </a:lvl1pPr>
            <a:lvl2pPr>
              <a:defRPr sz="1600">
                <a:latin typeface="Calibri Light" panose="020F0302020204030204" pitchFamily="34" charset="0"/>
              </a:defRPr>
            </a:lvl2pPr>
            <a:lvl3pPr>
              <a:defRPr sz="1400">
                <a:latin typeface="Calibri Light" panose="020F0302020204030204" pitchFamily="34" charset="0"/>
              </a:defRPr>
            </a:lvl3pPr>
            <a:lvl4pPr>
              <a:defRPr sz="1200">
                <a:latin typeface="Calibri Light" panose="020F0302020204030204" pitchFamily="34" charset="0"/>
              </a:defRPr>
            </a:lvl4pPr>
            <a:lvl5pPr>
              <a:defRPr sz="1200">
                <a:latin typeface="Calibri Light" panose="020F030202020403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20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8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>
                <a:latin typeface="Calibri Light" panose="020F0302020204030204" pitchFamily="34" charset="0"/>
              </a:defRPr>
            </a:lvl1pPr>
            <a:lvl2pPr>
              <a:defRPr sz="1800">
                <a:latin typeface="Calibri Light" panose="020F0302020204030204" pitchFamily="34" charset="0"/>
              </a:defRPr>
            </a:lvl2pPr>
            <a:lvl3pPr>
              <a:defRPr sz="1600">
                <a:latin typeface="Calibri Light" panose="020F0302020204030204" pitchFamily="34" charset="0"/>
              </a:defRPr>
            </a:lvl3pPr>
            <a:lvl4pPr>
              <a:defRPr sz="1400">
                <a:latin typeface="Calibri Light" panose="020F0302020204030204" pitchFamily="34" charset="0"/>
              </a:defRPr>
            </a:lvl4pPr>
            <a:lvl5pPr>
              <a:defRPr sz="1400">
                <a:latin typeface="Calibri Light" panose="020F03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Calibri Light" panose="020F030202020403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3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Calibri Light" panose="020F030202020403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09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1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Calibri Light" panose="020F030202020403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Calibri Light" panose="020F030202020403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8222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316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501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Calibri Light" panose="020F030202020403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Calibri Light" panose="020F030202020403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Calibri Light" panose="020F0302020204030204" pitchFamily="34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Calibri Light" panose="020F03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3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>
            <a:lvl1pPr>
              <a:defRPr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425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>
            <a:lvl1pPr>
              <a:defRPr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761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latin typeface="Calibri Light" panose="020F03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Calibri Light" panose="020F0302020204030204" pitchFamily="34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4080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C360EFC1-DE4D-45F0-A5A8-50973A9CB77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914A77FB-69ED-4948-9D1F-BBC561AE95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46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Calibri Light" panose="020F030202020403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loilp@bvtn.org.vn" TargetMode="Externa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8637/jss.v028.c01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1710-6F71-13E9-749A-EAA498EED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9882090" cy="170058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>
                <a:ea typeface="Calibri Light" panose="020F0302020204030204" pitchFamily="34" charset="0"/>
                <a:cs typeface="Calibri Light" panose="020F0302020204030204" pitchFamily="34" charset="0"/>
              </a:rPr>
              <a:t>Lecture 1</a:t>
            </a:r>
            <a:br>
              <a:rPr lang="en-GB" sz="6000" b="1" dirty="0"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ea typeface="Calibri Light" panose="020F0302020204030204" pitchFamily="34" charset="0"/>
                <a:cs typeface="Calibri Light" panose="020F0302020204030204" pitchFamily="34" charset="0"/>
              </a:rPr>
              <a:t>Boxplot and its Variants</a:t>
            </a:r>
            <a:endParaRPr lang="en-US" b="1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B22BD05C-CC14-A3AD-88F6-362DDD5C6B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789" y="160020"/>
            <a:ext cx="1216730" cy="119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E28774E4-90D7-9570-ED8D-53ED510567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3782" y="110742"/>
            <a:ext cx="1297034" cy="12800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759E0-4B54-A222-1BA4-8EBF93854CCA}"/>
              </a:ext>
            </a:extLst>
          </p:cNvPr>
          <p:cNvSpPr txBox="1"/>
          <p:nvPr/>
        </p:nvSpPr>
        <p:spPr>
          <a:xfrm>
            <a:off x="1987588" y="432560"/>
            <a:ext cx="779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Sinh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hoạt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Khoa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học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hàng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tuần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tại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bệnh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viện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Thống</a:t>
            </a:r>
            <a:r>
              <a:rPr lang="en-GB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Nhất</a:t>
            </a:r>
            <a:endParaRPr lang="en-US" sz="2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Google Shape;59;p13" title="Profile.jpg">
            <a:extLst>
              <a:ext uri="{FF2B5EF4-FFF2-40B4-BE49-F238E27FC236}">
                <a16:creationId xmlns:a16="http://schemas.microsoft.com/office/drawing/2014/main" id="{7023F81C-3143-4F4F-E98F-C1D7C6D5D79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9016" y="3429000"/>
            <a:ext cx="1763370" cy="1837339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3C810EDB-6AA7-923F-CA2C-F3859E56BC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6302" y="4333712"/>
            <a:ext cx="9419998" cy="18373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DeC 10 2025</a:t>
            </a:r>
            <a:endParaRPr sz="1600" b="1" dirty="0">
              <a:solidFill>
                <a:schemeClr val="tx1"/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Phuc-Loi Luu, PhD </a:t>
            </a:r>
          </a:p>
          <a:p>
            <a:pPr marL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Email: </a:t>
            </a:r>
            <a: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loilp@bvtn.org.vn</a:t>
            </a:r>
            <a:b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" sz="16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Zalo: 0901802182</a:t>
            </a: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Viện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Nghiên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cứu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Ứng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dụng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Khoa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học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Sức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khỏe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và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Lão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hóa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Bệnh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viện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Thống</a:t>
            </a:r>
            <a:r>
              <a:rPr lang="en-US" sz="1800" b="1" dirty="0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Nhất</a:t>
            </a:r>
            <a:endParaRPr lang="en-US" sz="1800" b="1" dirty="0">
              <a:solidFill>
                <a:schemeClr val="tx1"/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0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b="1" dirty="0"/>
              <a:t>CONTENT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1EBC9-952C-25D0-F0B3-8B06CE87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379" y="1281260"/>
            <a:ext cx="10274671" cy="4693371"/>
          </a:xfrm>
        </p:spPr>
        <p:txBody>
          <a:bodyPr>
            <a:normAutofit/>
          </a:bodyPr>
          <a:lstStyle/>
          <a:p>
            <a:r>
              <a:rPr lang="en-GB" sz="4000" b="1" dirty="0" err="1"/>
              <a:t>Barplot</a:t>
            </a:r>
            <a:endParaRPr lang="en-GB" sz="4000" b="1" dirty="0"/>
          </a:p>
          <a:p>
            <a:r>
              <a:rPr lang="en-GB" sz="4000" b="1" dirty="0"/>
              <a:t>Boxplot: how to read</a:t>
            </a:r>
          </a:p>
          <a:p>
            <a:r>
              <a:rPr lang="en-GB" sz="4000" b="1" dirty="0"/>
              <a:t>Boxplot and its variants</a:t>
            </a:r>
          </a:p>
          <a:p>
            <a:r>
              <a:rPr lang="en-GB" sz="4000" b="1" dirty="0" err="1"/>
              <a:t>Violinplot</a:t>
            </a:r>
            <a:endParaRPr lang="en-GB" sz="4000" b="1" dirty="0"/>
          </a:p>
          <a:p>
            <a:r>
              <a:rPr lang="en-GB" sz="4000" b="1" dirty="0" err="1"/>
              <a:t>Beanplot</a:t>
            </a:r>
            <a:endParaRPr lang="en-GB" sz="4000" b="1" dirty="0"/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21818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4600" b="1" dirty="0"/>
              <a:t>Bar Plot</a:t>
            </a:r>
            <a:endParaRPr lang="en-US" sz="4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1EBC9-952C-25D0-F0B3-8B06CE87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379" y="1281260"/>
            <a:ext cx="10274671" cy="4693371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CAF21C-C82D-5001-1302-CCBC96FA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234" y="1145005"/>
            <a:ext cx="5995617" cy="712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E6217F-F031-3512-2575-AD0111685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10" y="2290737"/>
            <a:ext cx="3821408" cy="38214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A7ED75-CCC9-6A7C-304F-01FAF0B7C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295" y="2294213"/>
            <a:ext cx="3876618" cy="38179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AF5F74A-B6EC-C74A-A6BF-7C5A6879C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244" y="2294447"/>
            <a:ext cx="3821409" cy="382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9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4600" b="1" dirty="0"/>
              <a:t>Bar Plot with Error Bar</a:t>
            </a:r>
            <a:endParaRPr lang="en-US" sz="4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63AEA-6ABF-E8B2-6F1C-A5336EE2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2" y="1853631"/>
            <a:ext cx="7397321" cy="4522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8F6D7E-2838-C8B4-8EAC-20A1FA0E4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864" y="1853631"/>
            <a:ext cx="4522532" cy="4522532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4BC157C9-04B9-1B2B-3290-2FAB67BE83F6}"/>
              </a:ext>
            </a:extLst>
          </p:cNvPr>
          <p:cNvSpPr/>
          <p:nvPr/>
        </p:nvSpPr>
        <p:spPr>
          <a:xfrm>
            <a:off x="2102576" y="1264823"/>
            <a:ext cx="766563" cy="41613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6B08D9E-326C-04AE-C157-9501BD43DB7C}"/>
              </a:ext>
            </a:extLst>
          </p:cNvPr>
          <p:cNvSpPr/>
          <p:nvPr/>
        </p:nvSpPr>
        <p:spPr>
          <a:xfrm>
            <a:off x="6235628" y="1264823"/>
            <a:ext cx="766563" cy="41613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82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4600" b="1" dirty="0"/>
              <a:t>Bar Plot with Error Bar</a:t>
            </a:r>
            <a:endParaRPr lang="en-US" sz="4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747E7-D4EE-4321-27EF-882EA71D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26" y="1423616"/>
            <a:ext cx="4596640" cy="4596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DF25EC-B039-CAD8-999C-2D660B3E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712" y="1423616"/>
            <a:ext cx="4596640" cy="4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184426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74F050-8DD3-422B-3B26-F8F878DDA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2" y="1760541"/>
            <a:ext cx="7397321" cy="4522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FEFB84-5458-8BCC-8F39-394CD890A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440" y="1760541"/>
            <a:ext cx="4441809" cy="4522532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C5AD7799-0E12-D986-B4FA-EF0595ADCF5C}"/>
              </a:ext>
            </a:extLst>
          </p:cNvPr>
          <p:cNvSpPr/>
          <p:nvPr/>
        </p:nvSpPr>
        <p:spPr>
          <a:xfrm>
            <a:off x="2239459" y="1270300"/>
            <a:ext cx="766563" cy="41613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82A73E7-0E79-8A71-5AA3-FDE796E50B5F}"/>
              </a:ext>
            </a:extLst>
          </p:cNvPr>
          <p:cNvSpPr/>
          <p:nvPr/>
        </p:nvSpPr>
        <p:spPr>
          <a:xfrm>
            <a:off x="6372511" y="1270300"/>
            <a:ext cx="766563" cy="41613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68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96ABD-EDE6-AF42-7940-714E65B1A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44" y="1322987"/>
            <a:ext cx="10368408" cy="4659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26AACC-D8AB-1C49-0EE2-A0DEB405A42F}"/>
              </a:ext>
            </a:extLst>
          </p:cNvPr>
          <p:cNvSpPr txBox="1"/>
          <p:nvPr/>
        </p:nvSpPr>
        <p:spPr>
          <a:xfrm>
            <a:off x="3908101" y="6282340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https://numiqo.com/tutorial/box-plot</a:t>
            </a:r>
          </a:p>
        </p:txBody>
      </p:sp>
    </p:spTree>
    <p:extLst>
      <p:ext uri="{BB962C8B-B14F-4D97-AF65-F5344CB8AC3E}">
        <p14:creationId xmlns:p14="http://schemas.microsoft.com/office/powerpoint/2010/main" val="140600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6AACC-D8AB-1C49-0EE2-A0DEB405A42F}"/>
              </a:ext>
            </a:extLst>
          </p:cNvPr>
          <p:cNvSpPr txBox="1"/>
          <p:nvPr/>
        </p:nvSpPr>
        <p:spPr>
          <a:xfrm>
            <a:off x="1615260" y="6129030"/>
            <a:ext cx="819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https://www.atlassian.com/data/charts/box-plot-complete-guide</a:t>
            </a:r>
          </a:p>
        </p:txBody>
      </p:sp>
      <p:pic>
        <p:nvPicPr>
          <p:cNvPr id="3074" name="Picture 2" descr="Diagram showing how box and whiskers are derived from a set of data.">
            <a:extLst>
              <a:ext uri="{FF2B5EF4-FFF2-40B4-BE49-F238E27FC236}">
                <a16:creationId xmlns:a16="http://schemas.microsoft.com/office/drawing/2014/main" id="{4E5CEF52-D55A-4E04-F3AE-E3D9EC111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051" y="1326024"/>
            <a:ext cx="7971969" cy="4423266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24633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6AACC-D8AB-1C49-0EE2-A0DEB405A42F}"/>
              </a:ext>
            </a:extLst>
          </p:cNvPr>
          <p:cNvSpPr txBox="1"/>
          <p:nvPr/>
        </p:nvSpPr>
        <p:spPr>
          <a:xfrm>
            <a:off x="3908101" y="6282340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https://numiqo.com/tutorial/box-plot</a:t>
            </a:r>
          </a:p>
        </p:txBody>
      </p:sp>
      <p:pic>
        <p:nvPicPr>
          <p:cNvPr id="2052" name="Picture 4" descr="Boxplot quartiles">
            <a:extLst>
              <a:ext uri="{FF2B5EF4-FFF2-40B4-BE49-F238E27FC236}">
                <a16:creationId xmlns:a16="http://schemas.microsoft.com/office/drawing/2014/main" id="{C2F4DD40-1853-3ECB-5BC0-8AAB87F38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57" y="1528541"/>
            <a:ext cx="5379630" cy="377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oxplot median and mean">
            <a:extLst>
              <a:ext uri="{FF2B5EF4-FFF2-40B4-BE49-F238E27FC236}">
                <a16:creationId xmlns:a16="http://schemas.microsoft.com/office/drawing/2014/main" id="{5B493E30-1874-8627-0A91-124790179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3" y="1528540"/>
            <a:ext cx="5240671" cy="377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38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6AACC-D8AB-1C49-0EE2-A0DEB405A42F}"/>
              </a:ext>
            </a:extLst>
          </p:cNvPr>
          <p:cNvSpPr txBox="1"/>
          <p:nvPr/>
        </p:nvSpPr>
        <p:spPr>
          <a:xfrm>
            <a:off x="3908101" y="6282340"/>
            <a:ext cx="609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https://numiqo.com/tutorial/box-plot</a:t>
            </a:r>
          </a:p>
        </p:txBody>
      </p:sp>
      <p:pic>
        <p:nvPicPr>
          <p:cNvPr id="2050" name="Picture 2" descr="boxplot example">
            <a:extLst>
              <a:ext uri="{FF2B5EF4-FFF2-40B4-BE49-F238E27FC236}">
                <a16:creationId xmlns:a16="http://schemas.microsoft.com/office/drawing/2014/main" id="{53E98C5A-A3F8-6FF8-8BE3-802F320DF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562" y="1351580"/>
            <a:ext cx="618172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79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6AACC-D8AB-1C49-0EE2-A0DEB405A42F}"/>
              </a:ext>
            </a:extLst>
          </p:cNvPr>
          <p:cNvSpPr txBox="1"/>
          <p:nvPr/>
        </p:nvSpPr>
        <p:spPr>
          <a:xfrm>
            <a:off x="744660" y="6282340"/>
            <a:ext cx="10797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https://wellbeingatschool.org.nz/information-sheet/understanding-and-interpreting-box-plots</a:t>
            </a:r>
          </a:p>
        </p:txBody>
      </p:sp>
      <p:pic>
        <p:nvPicPr>
          <p:cNvPr id="4098" name="Picture 2" descr="diagram of different shapes and positions">
            <a:extLst>
              <a:ext uri="{FF2B5EF4-FFF2-40B4-BE49-F238E27FC236}">
                <a16:creationId xmlns:a16="http://schemas.microsoft.com/office/drawing/2014/main" id="{75ABBA87-B214-FD25-B7F3-A9DD95B4B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867" y="1257300"/>
            <a:ext cx="7621483" cy="464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03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</a:t>
            </a:r>
            <a:endParaRPr lang="en-US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11C11-9ACF-13D5-063E-ABD18798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7" y="1589111"/>
            <a:ext cx="3885282" cy="3885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F20DB-7F28-65AC-8C91-34530935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228" y="1589111"/>
            <a:ext cx="3885282" cy="3885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9961E6-20C2-6F89-EBB8-E29EB21D4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558" y="1589110"/>
            <a:ext cx="3815932" cy="388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1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Boxplot and its Variants</a:t>
            </a:r>
            <a:endParaRPr lang="en-US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32A33-FC3A-EB0D-9905-C125B0FBC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19" y="1220957"/>
            <a:ext cx="11115162" cy="4817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E1C28-1504-09A5-6256-C187075E0540}"/>
              </a:ext>
            </a:extLst>
          </p:cNvPr>
          <p:cNvSpPr txBox="1"/>
          <p:nvPr/>
        </p:nvSpPr>
        <p:spPr>
          <a:xfrm>
            <a:off x="538419" y="6141727"/>
            <a:ext cx="11022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Spitzer, M.,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Wildenhain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Rappsilber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 </a:t>
            </a:r>
            <a:r>
              <a:rPr lang="en-US" sz="1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BoxPlotR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web tool for generation of box plots. </a:t>
            </a:r>
            <a:r>
              <a:rPr lang="en-US" sz="1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 Methods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121–122 (2014). https://doi.org/10.1038/nmeth.2811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252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 Plot vs Violin Plot</a:t>
            </a:r>
            <a:endParaRPr lang="en-US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E1C28-1504-09A5-6256-C187075E0540}"/>
              </a:ext>
            </a:extLst>
          </p:cNvPr>
          <p:cNvSpPr txBox="1"/>
          <p:nvPr/>
        </p:nvSpPr>
        <p:spPr>
          <a:xfrm>
            <a:off x="96347" y="6097962"/>
            <a:ext cx="5782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https://towardsdatascience.com/violin-plots-explained-fb1d115e023d/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ource">
            <a:extLst>
              <a:ext uri="{FF2B5EF4-FFF2-40B4-BE49-F238E27FC236}">
                <a16:creationId xmlns:a16="http://schemas.microsoft.com/office/drawing/2014/main" id="{9E2F4C27-8258-2282-A261-A273DFE96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83" y="1449453"/>
            <a:ext cx="5456969" cy="447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de-by-side comparison of box plot and violin plot.">
            <a:extLst>
              <a:ext uri="{FF2B5EF4-FFF2-40B4-BE49-F238E27FC236}">
                <a16:creationId xmlns:a16="http://schemas.microsoft.com/office/drawing/2014/main" id="{BBFBEE3A-A593-33EE-EDCD-5E6EDD3BB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579" y="1707427"/>
            <a:ext cx="6125745" cy="368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405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Violin Plot</a:t>
            </a:r>
            <a:endParaRPr lang="en-US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B9D07-A6A2-69B4-738E-922ED0D13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6" y="2090271"/>
            <a:ext cx="3225800" cy="322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D4E52C-1513-7EC1-8972-4725535C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50" y="2090271"/>
            <a:ext cx="3225800" cy="322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395AE6-FF36-D823-54AB-35502BBB3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104" y="2090271"/>
            <a:ext cx="32258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90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 Plot vs Histogram</a:t>
            </a:r>
            <a:endParaRPr lang="en-US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E1C28-1504-09A5-6256-C187075E0540}"/>
              </a:ext>
            </a:extLst>
          </p:cNvPr>
          <p:cNvSpPr txBox="1"/>
          <p:nvPr/>
        </p:nvSpPr>
        <p:spPr>
          <a:xfrm>
            <a:off x="3550747" y="6241398"/>
            <a:ext cx="5782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https://www.atlassian.com/data/charts/box-plot-complete-guide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Side-by-side comparison of faceted histogram and box plot.">
            <a:extLst>
              <a:ext uri="{FF2B5EF4-FFF2-40B4-BE49-F238E27FC236}">
                <a16:creationId xmlns:a16="http://schemas.microsoft.com/office/drawing/2014/main" id="{3659D04C-974F-7A43-CE2A-7751A38C2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472" y="2133226"/>
            <a:ext cx="6544797" cy="266588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124" name="Picture 4" descr="Whisker lengths can be defined by various methods like data percentiles or a multiple of box length.">
            <a:extLst>
              <a:ext uri="{FF2B5EF4-FFF2-40B4-BE49-F238E27FC236}">
                <a16:creationId xmlns:a16="http://schemas.microsoft.com/office/drawing/2014/main" id="{DC405197-DDAC-A40B-2B33-9273553E2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34" y="1626628"/>
            <a:ext cx="4972798" cy="3799311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27866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206328"/>
            <a:ext cx="9404723" cy="757356"/>
          </a:xfrm>
        </p:spPr>
        <p:txBody>
          <a:bodyPr/>
          <a:lstStyle/>
          <a:p>
            <a:pPr algn="ctr"/>
            <a:r>
              <a:rPr lang="en-GB" sz="5400" b="1" dirty="0"/>
              <a:t>Box Plot vs Bean Plot</a:t>
            </a:r>
            <a:endParaRPr lang="en-US" sz="5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E1C28-1504-09A5-6256-C187075E0540}"/>
              </a:ext>
            </a:extLst>
          </p:cNvPr>
          <p:cNvSpPr txBox="1"/>
          <p:nvPr/>
        </p:nvSpPr>
        <p:spPr>
          <a:xfrm>
            <a:off x="3550747" y="6241398"/>
            <a:ext cx="5782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https://www.atlassian.com/data/charts/box-plot-complete-guide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F8A20-FE99-023E-FE89-D76D9F9F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130" y="1412981"/>
            <a:ext cx="7204742" cy="459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5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56920"/>
            <a:ext cx="9404723" cy="642331"/>
          </a:xfrm>
        </p:spPr>
        <p:txBody>
          <a:bodyPr/>
          <a:lstStyle/>
          <a:p>
            <a:pPr algn="ctr"/>
            <a:r>
              <a:rPr lang="en-GB" sz="4800" b="1" dirty="0"/>
              <a:t>Violin Plot vs Bean Plot</a:t>
            </a:r>
            <a:endParaRPr lang="en-US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330BD-6428-876C-1A96-F992AA0C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72" y="1029160"/>
            <a:ext cx="6084181" cy="5257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A9C487-DBB5-35A9-6FF6-AD239531E1F5}"/>
              </a:ext>
            </a:extLst>
          </p:cNvPr>
          <p:cNvSpPr txBox="1"/>
          <p:nvPr/>
        </p:nvSpPr>
        <p:spPr>
          <a:xfrm>
            <a:off x="8709937" y="6388410"/>
            <a:ext cx="3316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effectLst/>
                <a:latin typeface="Barlow" panose="020B0604020202020204" pitchFamily="2" charset="0"/>
              </a:rPr>
              <a:t>DOI:</a:t>
            </a:r>
            <a:r>
              <a:rPr lang="pt-BR" b="0" i="0" u="none" strike="noStrike" dirty="0">
                <a:effectLst/>
                <a:latin typeface="Barlow" panose="020B0604020202020204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10.18637/jss.v028.c01</a:t>
            </a:r>
            <a:endParaRPr lang="pt-BR" b="0" i="0" dirty="0">
              <a:effectLst/>
              <a:latin typeface="Barlow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001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A55A-A0EE-2A86-2E9E-8980B829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85" y="56920"/>
            <a:ext cx="9404723" cy="642331"/>
          </a:xfrm>
        </p:spPr>
        <p:txBody>
          <a:bodyPr/>
          <a:lstStyle/>
          <a:p>
            <a:pPr algn="ctr"/>
            <a:r>
              <a:rPr lang="en-GB" sz="4800" b="1" dirty="0"/>
              <a:t>Practice: Predict heart disease </a:t>
            </a:r>
            <a:endParaRPr lang="en-US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B0534-6B41-633B-9D58-057A61ECBC19}"/>
              </a:ext>
            </a:extLst>
          </p:cNvPr>
          <p:cNvSpPr txBox="1"/>
          <p:nvPr/>
        </p:nvSpPr>
        <p:spPr>
          <a:xfrm>
            <a:off x="705226" y="6304737"/>
            <a:ext cx="10697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https://www.kaggle.com/datasets/dileep070/heart-disease-prediction-using-logistic-regression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0A0CD3-FF7A-E363-582C-0F79BF07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351" y="1191596"/>
            <a:ext cx="7112744" cy="472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61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415600" y="2322367"/>
            <a:ext cx="11360800" cy="14828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5333" b="1" dirty="0">
                <a:solidFill>
                  <a:schemeClr val="tx1"/>
                </a:solidFill>
              </a:rPr>
              <a:t>Thank you for your listening</a:t>
            </a:r>
            <a:br>
              <a:rPr lang="en" sz="5333" b="1" dirty="0">
                <a:solidFill>
                  <a:schemeClr val="tx1"/>
                </a:solidFill>
              </a:rPr>
            </a:br>
            <a:r>
              <a:rPr lang="en" sz="5333" b="1" dirty="0">
                <a:solidFill>
                  <a:schemeClr val="tx1"/>
                </a:solidFill>
              </a:rPr>
              <a:t>Q &amp; A</a:t>
            </a:r>
            <a:endParaRPr sz="5333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356</TotalTime>
  <Words>278</Words>
  <Application>Microsoft Office PowerPoint</Application>
  <PresentationFormat>Widescreen</PresentationFormat>
  <Paragraphs>41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Barlow</vt:lpstr>
      <vt:lpstr>Calibri Light</vt:lpstr>
      <vt:lpstr>Century Gothic</vt:lpstr>
      <vt:lpstr>Times New Roman</vt:lpstr>
      <vt:lpstr>Wingdings 3</vt:lpstr>
      <vt:lpstr>Ion</vt:lpstr>
      <vt:lpstr>Lecture 1 Boxplot and its Variants</vt:lpstr>
      <vt:lpstr>CONTENT</vt:lpstr>
      <vt:lpstr>Bar Plot</vt:lpstr>
      <vt:lpstr>Bar Plot with Error Bar</vt:lpstr>
      <vt:lpstr>Bar Plot with Error Bar</vt:lpstr>
      <vt:lpstr>Boxplot</vt:lpstr>
      <vt:lpstr>Boxplot</vt:lpstr>
      <vt:lpstr>Boxplot</vt:lpstr>
      <vt:lpstr>Boxplot</vt:lpstr>
      <vt:lpstr>Boxplot</vt:lpstr>
      <vt:lpstr>Boxplot</vt:lpstr>
      <vt:lpstr>Boxplot</vt:lpstr>
      <vt:lpstr>Boxplot and its Variants</vt:lpstr>
      <vt:lpstr>Box Plot vs Violin Plot</vt:lpstr>
      <vt:lpstr>Violin Plot</vt:lpstr>
      <vt:lpstr>Box Plot vs Histogram</vt:lpstr>
      <vt:lpstr>Box Plot vs Bean Plot</vt:lpstr>
      <vt:lpstr>Violin Plot vs Bean Plot</vt:lpstr>
      <vt:lpstr>Practice: Predict heart disease </vt:lpstr>
      <vt:lpstr>Thank you for your listening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Boxplot and its Variants</dc:title>
  <dc:creator>Luu Loi</dc:creator>
  <cp:lastModifiedBy>Luu Loi</cp:lastModifiedBy>
  <cp:revision>37</cp:revision>
  <dcterms:created xsi:type="dcterms:W3CDTF">2025-12-10T00:47:22Z</dcterms:created>
  <dcterms:modified xsi:type="dcterms:W3CDTF">2025-12-10T06:43:31Z</dcterms:modified>
</cp:coreProperties>
</file>